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60" r:id="rId6"/>
    <p:sldId id="269" r:id="rId7"/>
    <p:sldId id="261" r:id="rId8"/>
    <p:sldId id="262" r:id="rId9"/>
    <p:sldId id="270" r:id="rId10"/>
    <p:sldId id="264" r:id="rId11"/>
    <p:sldId id="267" r:id="rId12"/>
    <p:sldId id="272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976"/>
    <p:restoredTop sz="94610"/>
  </p:normalViewPr>
  <p:slideViewPr>
    <p:cSldViewPr snapToGrid="0" snapToObjects="1">
      <p:cViewPr>
        <p:scale>
          <a:sx n="89" d="100"/>
          <a:sy n="89" d="100"/>
        </p:scale>
        <p:origin x="144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328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C7430-CC7C-AE53-4B59-0B5707C5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30C99-3B10-BC85-EFFC-5A7A112A0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0E571-ECA0-5C94-3C89-E1B0514E2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D2973-CB66-B045-6448-981D3CCC49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16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371600"/>
            <a:ext cx="822960" cy="822960"/>
          </a:xfrm>
          <a:prstGeom prst="ellipse">
            <a:avLst/>
          </a:prstGeom>
          <a:solidFill>
            <a:srgbClr val="22283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15855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financial data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E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expense tracking with a local language model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Romina Fernandez, Clara Brilke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0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75488" cy="475488"/>
          </a:xfrm>
          <a:prstGeom prst="ellipse">
            <a:avLst/>
          </a:prstGeom>
          <a:solidFill>
            <a:srgbClr val="EAF6F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1952427"/>
            <a:ext cx="228234" cy="2282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first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34440" y="213055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statements are sensitive personal data. They should never leave the device.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475488" cy="475488"/>
          </a:xfrm>
          <a:prstGeom prst="ellipse">
            <a:avLst/>
          </a:prstGeom>
          <a:solidFill>
            <a:srgbClr val="EAF6F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7" y="3369747"/>
            <a:ext cx="228234" cy="2282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fall short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234440" y="354787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options like Actual Budget work, but the interface and categorization workflow did not convince us.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663440"/>
            <a:ext cx="475488" cy="475488"/>
          </a:xfrm>
          <a:prstGeom prst="ellipse">
            <a:avLst/>
          </a:prstGeom>
          <a:solidFill>
            <a:srgbClr val="EAF6F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4787067"/>
            <a:ext cx="228234" cy="2282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617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spending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234440" y="496519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per-category tracking reveals where money actually goes — and where there is potential to save.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766560" y="1783080"/>
            <a:ext cx="4892040" cy="4160520"/>
          </a:xfrm>
          <a:prstGeom prst="roundRect">
            <a:avLst>
              <a:gd name="adj" fmla="val 2637"/>
            </a:avLst>
          </a:prstGeom>
          <a:solidFill>
            <a:srgbClr val="EAF6F3"/>
          </a:solidFill>
          <a:ln/>
        </p:spPr>
      </p:sp>
      <p:sp>
        <p:nvSpPr>
          <p:cNvPr id="17" name="Text 12"/>
          <p:cNvSpPr/>
          <p:nvPr/>
        </p:nvSpPr>
        <p:spPr>
          <a:xfrm>
            <a:off x="713232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the prototype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132320" y="25146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assign every bank transaction to a personal category system.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main categories only — subcategories (~35) follow once the pipeline works.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model small enough to train and run on a normal desktop CPU.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132320" y="46634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4000" dirty="0"/>
          </a:p>
          <a:p>
            <a:pPr marL="0" indent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processing happens locally</a:t>
            </a:r>
            <a:endParaRPr lang="en-US" sz="4000" dirty="0"/>
          </a:p>
        </p:txBody>
      </p:sp>
      <p:sp>
        <p:nvSpPr>
          <p:cNvPr id="20" name="Text 1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financial data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0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main categories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EAF6F3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202996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50" y="2139330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20482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22376" y="260604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supermarket, drugstore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8288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EAF6F3"/>
          </a:solidFill>
          <a:ln/>
        </p:spPr>
      </p:sp>
      <p:sp>
        <p:nvSpPr>
          <p:cNvPr id="10" name="Shape 7"/>
          <p:cNvSpPr/>
          <p:nvPr/>
        </p:nvSpPr>
        <p:spPr>
          <a:xfrm>
            <a:off x="3630168" y="202996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530" y="2139330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78808" y="20482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fun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48456" y="260604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vacation, going out, cinema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55080" y="18288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EAF6F3"/>
          </a:solidFill>
          <a:ln/>
        </p:spPr>
      </p:sp>
      <p:sp>
        <p:nvSpPr>
          <p:cNvPr id="15" name="Shape 11"/>
          <p:cNvSpPr/>
          <p:nvPr/>
        </p:nvSpPr>
        <p:spPr>
          <a:xfrm>
            <a:off x="6556248" y="202996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610" y="2139330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04888" y="20482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74536" y="260604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tickets, car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281160" y="18288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EAF6F3"/>
          </a:solidFill>
          <a:ln/>
        </p:spPr>
      </p:sp>
      <p:sp>
        <p:nvSpPr>
          <p:cNvPr id="20" name="Shape 15"/>
          <p:cNvSpPr/>
          <p:nvPr/>
        </p:nvSpPr>
        <p:spPr>
          <a:xfrm>
            <a:off x="9482328" y="202996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1690" y="2139330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30968" y="20482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500616" y="260604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kids, gifts, support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02920" y="35204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EAF6F3"/>
          </a:solidFill>
          <a:ln/>
        </p:spPr>
      </p:sp>
      <p:sp>
        <p:nvSpPr>
          <p:cNvPr id="25" name="Shape 19"/>
          <p:cNvSpPr/>
          <p:nvPr/>
        </p:nvSpPr>
        <p:spPr>
          <a:xfrm>
            <a:off x="704088" y="37216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450" y="3830970"/>
            <a:ext cx="201900" cy="201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52728" y="37398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22376" y="429768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books, fees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3429000" y="35204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EAF6F3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30" name="Shape 23"/>
          <p:cNvSpPr/>
          <p:nvPr/>
        </p:nvSpPr>
        <p:spPr>
          <a:xfrm>
            <a:off x="3630168" y="37216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9530" y="3830970"/>
            <a:ext cx="201900" cy="201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178808" y="37398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3648456" y="429768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pharmacy, doctor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355080" y="35204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EAF6F3"/>
          </a:solidFill>
          <a:ln/>
        </p:spPr>
      </p:sp>
      <p:sp>
        <p:nvSpPr>
          <p:cNvPr id="35" name="Shape 27"/>
          <p:cNvSpPr/>
          <p:nvPr/>
        </p:nvSpPr>
        <p:spPr>
          <a:xfrm>
            <a:off x="6556248" y="37216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5610" y="3830970"/>
            <a:ext cx="201900" cy="2019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104888" y="37398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costs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6574536" y="429768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rent, utilities, subscriptions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9281160" y="35204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E9B8A"/>
            </a:solidFill>
            <a:prstDash val="dash"/>
          </a:ln>
        </p:spPr>
      </p:sp>
      <p:sp>
        <p:nvSpPr>
          <p:cNvPr id="40" name="Text 31"/>
          <p:cNvSpPr/>
          <p:nvPr/>
        </p:nvSpPr>
        <p:spPr>
          <a:xfrm>
            <a:off x="9500616" y="377647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~35 subcategories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9500616" y="416052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a later stage — each maps to exactly one main category</a:t>
            </a:r>
            <a:endParaRPr lang="en-US" sz="1150" dirty="0"/>
          </a:p>
        </p:txBody>
      </p:sp>
      <p:sp>
        <p:nvSpPr>
          <p:cNvPr id="43" name="Text 3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financial data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2920" y="411480"/>
            <a:ext cx="1118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0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approach: Embedding &amp; Regression</a:t>
            </a:r>
          </a:p>
        </p:txBody>
      </p:sp>
      <p:sp>
        <p:nvSpPr>
          <p:cNvPr id="5" name="SecBody"/>
          <p:cNvSpPr/>
          <p:nvPr/>
        </p:nvSpPr>
        <p:spPr>
          <a:xfrm>
            <a:off x="502920" y="1371599"/>
            <a:ext cx="1118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Payee and purpose lines mix payment-provider prefixes, transaction IDs, and timestamps — the same merchant appears in many disguises:</a:t>
            </a:r>
          </a:p>
        </p:txBody>
      </p:sp>
      <p:pic>
        <p:nvPicPr>
          <p:cNvPr id="6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1510"/>
            <a:ext cx="11186160" cy="1520986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502920" y="4251961"/>
            <a:ext cx="3515360" cy="1234440"/>
          </a:xfrm>
          <a:prstGeom prst="roundRect">
            <a:avLst>
              <a:gd name="adj" fmla="val 2637"/>
            </a:avLst>
          </a:prstGeom>
          <a:solidFill>
            <a:srgbClr val="EAF6F3"/>
          </a:solidFill>
          <a:ln/>
        </p:spPr>
      </p:sp>
      <p:sp>
        <p:nvSpPr>
          <p:cNvPr id="8" name="StepHdr"/>
          <p:cNvSpPr/>
          <p:nvPr/>
        </p:nvSpPr>
        <p:spPr>
          <a:xfrm>
            <a:off x="777240" y="4407409"/>
            <a:ext cx="296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Clean</a:t>
            </a:r>
          </a:p>
        </p:txBody>
      </p:sp>
      <p:sp>
        <p:nvSpPr>
          <p:cNvPr id="9" name="StepBody"/>
          <p:cNvSpPr/>
          <p:nvPr/>
        </p:nvSpPr>
        <p:spPr>
          <a:xfrm>
            <a:off x="777240" y="4754881"/>
            <a:ext cx="296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city names, numbers, and boilerplate from payee and purpose fields.</a:t>
            </a:r>
          </a:p>
        </p:txBody>
      </p:sp>
      <p:sp>
        <p:nvSpPr>
          <p:cNvPr id="10" name="Card"/>
          <p:cNvSpPr/>
          <p:nvPr/>
        </p:nvSpPr>
        <p:spPr>
          <a:xfrm>
            <a:off x="4338320" y="4251961"/>
            <a:ext cx="3515360" cy="1234440"/>
          </a:xfrm>
          <a:prstGeom prst="roundRect">
            <a:avLst>
              <a:gd name="adj" fmla="val 2637"/>
            </a:avLst>
          </a:prstGeom>
          <a:solidFill>
            <a:srgbClr val="EAF6F3"/>
          </a:solidFill>
          <a:ln/>
        </p:spPr>
      </p:sp>
      <p:sp>
        <p:nvSpPr>
          <p:cNvPr id="11" name="StepHdr"/>
          <p:cNvSpPr/>
          <p:nvPr/>
        </p:nvSpPr>
        <p:spPr>
          <a:xfrm>
            <a:off x="4612640" y="4407409"/>
            <a:ext cx="296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Embed</a:t>
            </a:r>
          </a:p>
        </p:txBody>
      </p:sp>
      <p:sp>
        <p:nvSpPr>
          <p:cNvPr id="12" name="StepBody"/>
          <p:cNvSpPr/>
          <p:nvPr/>
        </p:nvSpPr>
        <p:spPr>
          <a:xfrm>
            <a:off x="4612640" y="4754881"/>
            <a:ext cx="296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each cleaned description as a sentence-embedding vector.</a:t>
            </a:r>
          </a:p>
        </p:txBody>
      </p:sp>
      <p:sp>
        <p:nvSpPr>
          <p:cNvPr id="13" name="Card"/>
          <p:cNvSpPr/>
          <p:nvPr/>
        </p:nvSpPr>
        <p:spPr>
          <a:xfrm>
            <a:off x="8173720" y="4251961"/>
            <a:ext cx="3515360" cy="1234440"/>
          </a:xfrm>
          <a:prstGeom prst="roundRect">
            <a:avLst>
              <a:gd name="adj" fmla="val 2637"/>
            </a:avLst>
          </a:prstGeom>
          <a:solidFill>
            <a:srgbClr val="EAF6F3"/>
          </a:solidFill>
          <a:ln/>
        </p:spPr>
      </p:sp>
      <p:sp>
        <p:nvSpPr>
          <p:cNvPr id="14" name="StepHdr"/>
          <p:cNvSpPr/>
          <p:nvPr/>
        </p:nvSpPr>
        <p:spPr>
          <a:xfrm>
            <a:off x="8448040" y="4407409"/>
            <a:ext cx="296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Classify</a:t>
            </a:r>
          </a:p>
        </p:txBody>
      </p:sp>
      <p:sp>
        <p:nvSpPr>
          <p:cNvPr id="15" name="StepBody"/>
          <p:cNvSpPr/>
          <p:nvPr/>
        </p:nvSpPr>
        <p:spPr>
          <a:xfrm>
            <a:off x="8448040" y="4754881"/>
            <a:ext cx="296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logistic-regression classifier on top of the embeddings.</a:t>
            </a:r>
          </a:p>
        </p:txBody>
      </p:sp>
      <p:sp>
        <p:nvSpPr>
          <p:cNvPr id="16" name="Result"/>
          <p:cNvSpPr/>
          <p:nvPr/>
        </p:nvSpPr>
        <p:spPr>
          <a:xfrm>
            <a:off x="502920" y="5791201"/>
            <a:ext cx="1118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did not work at all</a:t>
            </a: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vectors barely separated the categories, so we switched to a local language model instead.</a:t>
            </a:r>
          </a:p>
        </p:txBody>
      </p:sp>
      <p:sp>
        <p:nvSpPr>
          <p:cNvPr id="17" name="Footer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financial data</a:t>
            </a:r>
          </a:p>
        </p:txBody>
      </p:sp>
      <p:sp>
        <p:nvSpPr>
          <p:cNvPr id="18" name="PageNum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a three-stage cascade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path first — the model only sees what the memory cannot answer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178040" y="1892808"/>
            <a:ext cx="384048" cy="384048"/>
          </a:xfrm>
          <a:prstGeom prst="ellipse">
            <a:avLst/>
          </a:prstGeom>
          <a:solidFill>
            <a:srgbClr val="0E9B8A"/>
          </a:solidFill>
          <a:ln/>
        </p:spPr>
      </p:sp>
      <p:sp>
        <p:nvSpPr>
          <p:cNvPr id="6" name="Text 3"/>
          <p:cNvSpPr/>
          <p:nvPr/>
        </p:nvSpPr>
        <p:spPr>
          <a:xfrm>
            <a:off x="717804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26680" y="18745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memory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26680" y="2203704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recipients are matched instantly from past decisions (SQLite) — covers most recurring bookings, zero model calls.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178040" y="3337560"/>
            <a:ext cx="384048" cy="384048"/>
          </a:xfrm>
          <a:prstGeom prst="ellipse">
            <a:avLst/>
          </a:prstGeom>
          <a:solidFill>
            <a:srgbClr val="0E9B8A"/>
          </a:solidFill>
          <a:ln/>
        </p:spPr>
      </p:sp>
      <p:sp>
        <p:nvSpPr>
          <p:cNvPr id="10" name="Text 7"/>
          <p:cNvSpPr/>
          <p:nvPr/>
        </p:nvSpPr>
        <p:spPr>
          <a:xfrm>
            <a:off x="71780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26680" y="33192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language model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26680" y="3648456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transactions are classified on-device; every prediction comes with a confidence score.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178040" y="4782312"/>
            <a:ext cx="384048" cy="384048"/>
          </a:xfrm>
          <a:prstGeom prst="ellipse">
            <a:avLst/>
          </a:prstGeom>
          <a:solidFill>
            <a:srgbClr val="0E9B8A"/>
          </a:solidFill>
          <a:ln/>
        </p:spPr>
      </p:sp>
      <p:sp>
        <p:nvSpPr>
          <p:cNvPr id="14" name="Text 11"/>
          <p:cNvSpPr/>
          <p:nvPr/>
        </p:nvSpPr>
        <p:spPr>
          <a:xfrm>
            <a:off x="7178040" y="4782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726680" y="476402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726680" y="509320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cases go to the user. Each correction feeds memory and training data — the system keeps improving.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financial data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901396C9-D6B7-101B-D8A1-7E982DD66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1067"/>
            <a:ext cx="6477975" cy="44985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2920" y="411480"/>
            <a:ext cx="1118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0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</a:p>
        </p:txBody>
      </p:sp>
      <p:sp>
        <p:nvSpPr>
          <p:cNvPr id="3" name="Subtitle"/>
          <p:cNvSpPr/>
          <p:nvPr/>
        </p:nvSpPr>
        <p:spPr>
          <a:xfrm>
            <a:off x="502920" y="1143000"/>
            <a:ext cx="1118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per transaction: memory → rules → model — everything on-device</a:t>
            </a:r>
          </a:p>
        </p:txBody>
      </p:sp>
      <p:pic>
        <p:nvPicPr>
          <p:cNvPr id="4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315200" cy="3989305"/>
          </a:xfrm>
          <a:prstGeom prst="rect">
            <a:avLst/>
          </a:prstGeom>
        </p:spPr>
      </p:pic>
      <p:sp>
        <p:nvSpPr>
          <p:cNvPr id="5" name="BlkHdr"/>
          <p:cNvSpPr/>
          <p:nvPr/>
        </p:nvSpPr>
        <p:spPr>
          <a:xfrm>
            <a:off x="8138160" y="1783080"/>
            <a:ext cx="355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first</a:t>
            </a:r>
          </a:p>
        </p:txBody>
      </p:sp>
      <p:sp>
        <p:nvSpPr>
          <p:cNvPr id="6" name="BlkBody"/>
          <p:cNvSpPr/>
          <p:nvPr/>
        </p:nvSpPr>
        <p:spPr>
          <a:xfrm>
            <a:off x="8138160" y="2148840"/>
            <a:ext cx="355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payees are answered straight from SQLite — no model call at all.</a:t>
            </a:r>
          </a:p>
        </p:txBody>
      </p:sp>
      <p:sp>
        <p:nvSpPr>
          <p:cNvPr id="7" name="BlkHdr"/>
          <p:cNvSpPr/>
          <p:nvPr/>
        </p:nvSpPr>
        <p:spPr>
          <a:xfrm>
            <a:off x="8138160" y="2880360"/>
            <a:ext cx="355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as backstop</a:t>
            </a:r>
          </a:p>
        </p:txBody>
      </p:sp>
      <p:sp>
        <p:nvSpPr>
          <p:cNvPr id="8" name="BlkBody"/>
          <p:cNvSpPr/>
          <p:nvPr/>
        </p:nvSpPr>
        <p:spPr>
          <a:xfrm>
            <a:off x="8138160" y="3246120"/>
            <a:ext cx="355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keyword rules catch obvious cases the memory has not seen yet.</a:t>
            </a:r>
          </a:p>
        </p:txBody>
      </p:sp>
      <p:sp>
        <p:nvSpPr>
          <p:cNvPr id="9" name="BlkHdr"/>
          <p:cNvSpPr/>
          <p:nvPr/>
        </p:nvSpPr>
        <p:spPr>
          <a:xfrm>
            <a:off x="8138160" y="3977640"/>
            <a:ext cx="355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last</a:t>
            </a:r>
          </a:p>
        </p:txBody>
      </p:sp>
      <p:sp>
        <p:nvSpPr>
          <p:cNvPr id="10" name="BlkBody"/>
          <p:cNvSpPr/>
          <p:nvPr/>
        </p:nvSpPr>
        <p:spPr>
          <a:xfrm>
            <a:off x="8138160" y="4343400"/>
            <a:ext cx="355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remains goes to the local language model, together with a confidence score.</a:t>
            </a:r>
          </a:p>
        </p:txBody>
      </p:sp>
      <p:sp>
        <p:nvSpPr>
          <p:cNvPr id="11" name="Note"/>
          <p:cNvSpPr/>
          <p:nvPr/>
        </p:nvSpPr>
        <p:spPr>
          <a:xfrm>
            <a:off x="8138160" y="5148580"/>
            <a:ext cx="355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saved back — the merchant memory grows with each run.</a:t>
            </a:r>
          </a:p>
        </p:txBody>
      </p:sp>
      <p:sp>
        <p:nvSpPr>
          <p:cNvPr id="12" name="Footer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financial data</a:t>
            </a:r>
          </a:p>
        </p:txBody>
      </p:sp>
      <p:sp>
        <p:nvSpPr>
          <p:cNvPr id="13" name="PageNum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0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Biggest challenge: data we cannot show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532120" cy="2286000"/>
          </a:xfrm>
          <a:prstGeom prst="roundRect">
            <a:avLst>
              <a:gd name="adj" fmla="val 4800"/>
            </a:avLst>
          </a:prstGeom>
          <a:solidFill>
            <a:srgbClr val="EAF6F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67" y="2226747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2140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off-limits for AI tooling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co-pilots and cloud assistants means real bank statements can never touch the development loop. Prompts, context windows, and telemetry would all leak sensitive data.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532120" cy="2286000"/>
          </a:xfrm>
          <a:prstGeom prst="roundRect">
            <a:avLst>
              <a:gd name="adj" fmla="val 4800"/>
            </a:avLst>
          </a:prstGeom>
          <a:solidFill>
            <a:srgbClr val="EAF6F3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10312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867" y="2226747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2140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is not authentic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37960" y="2834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transactions miss the quirks of real bookings: inconsistent merchant spellings, truncated purpose lines, regional chains, one-off transfers. A model trained only on clean data may stumble on reality.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0292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synthetic data – what could go wrong?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85800" y="484632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 — synthetic wording is cleaner and more regular than real statements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Overly optimistic evaluation — validating on synthetic data measures the generator, not reality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financial data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0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Compromise: synthesized data 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~2600 DKB-format transactions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338560" cy="2711501"/>
          </a:xfrm>
          <a:prstGeom prst="roundRect">
            <a:avLst>
              <a:gd name="adj" fmla="val 2698"/>
            </a:avLst>
          </a:prstGeom>
          <a:solidFill>
            <a:srgbClr val="F4F6F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6587"/>
          <a:stretch>
            <a:fillRect/>
          </a:stretch>
        </p:blipFill>
        <p:spPr>
          <a:xfrm>
            <a:off x="114748" y="1855927"/>
            <a:ext cx="11962503" cy="2532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4937760"/>
            <a:ext cx="475488" cy="475488"/>
          </a:xfrm>
          <a:prstGeom prst="ellipse">
            <a:avLst/>
          </a:prstGeom>
          <a:solidFill>
            <a:srgbClr val="EAF6F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47" y="5061387"/>
            <a:ext cx="228234" cy="2282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4712" y="4956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structure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124712" y="52852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merchant names, DKB column layout, plausible amounts and dates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297680" y="4937760"/>
            <a:ext cx="475488" cy="475488"/>
          </a:xfrm>
          <a:prstGeom prst="ellipse">
            <a:avLst/>
          </a:prstGeom>
          <a:solidFill>
            <a:srgbClr val="EAF6F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307" y="5061387"/>
            <a:ext cx="228234" cy="2282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9472" y="4956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by design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4919472" y="52852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main category gets enough examples to train 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092440" y="4937760"/>
            <a:ext cx="475488" cy="475488"/>
          </a:xfrm>
          <a:prstGeom prst="ellipse">
            <a:avLst/>
          </a:prstGeom>
          <a:solidFill>
            <a:srgbClr val="EAF6F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6067" y="5061387"/>
            <a:ext cx="228234" cy="2282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14232" y="4956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share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8714232" y="52852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data — usable with any tool, in slides, in repos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financial data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2920" y="411480"/>
            <a:ext cx="1118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0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</a:p>
        </p:txBody>
      </p:sp>
      <p:sp>
        <p:nvSpPr>
          <p:cNvPr id="3" name="Subtitle"/>
          <p:cNvSpPr/>
          <p:nvPr/>
        </p:nvSpPr>
        <p:spPr>
          <a:xfrm>
            <a:off x="502920" y="1143000"/>
            <a:ext cx="1118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on 50 held-out synthetic transactions — before any fine-tuning</a:t>
            </a:r>
          </a:p>
        </p:txBody>
      </p:sp>
      <p:pic>
        <p:nvPicPr>
          <p:cNvPr id="4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024" y="1600200"/>
            <a:ext cx="8281951" cy="3200400"/>
          </a:xfrm>
          <a:prstGeom prst="rect">
            <a:avLst/>
          </a:prstGeom>
        </p:spPr>
      </p:pic>
      <p:sp>
        <p:nvSpPr>
          <p:cNvPr id="5" name="Stat"/>
          <p:cNvSpPr/>
          <p:nvPr/>
        </p:nvSpPr>
        <p:spPr>
          <a:xfrm>
            <a:off x="2340783" y="5088636"/>
            <a:ext cx="351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46 %</a:t>
            </a:r>
          </a:p>
        </p:txBody>
      </p:sp>
      <p:sp>
        <p:nvSpPr>
          <p:cNvPr id="6" name="StatLab"/>
          <p:cNvSpPr/>
          <p:nvPr/>
        </p:nvSpPr>
        <p:spPr>
          <a:xfrm>
            <a:off x="2340783" y="5637276"/>
            <a:ext cx="351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— a working baseline, not yet a product</a:t>
            </a:r>
          </a:p>
        </p:txBody>
      </p:sp>
      <p:sp>
        <p:nvSpPr>
          <p:cNvPr id="7" name="Stat"/>
          <p:cNvSpPr/>
          <p:nvPr/>
        </p:nvSpPr>
        <p:spPr>
          <a:xfrm>
            <a:off x="7018394" y="5088636"/>
            <a:ext cx="351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vs. 44 %</a:t>
            </a:r>
          </a:p>
        </p:txBody>
      </p:sp>
      <p:sp>
        <p:nvSpPr>
          <p:cNvPr id="8" name="StatLab"/>
          <p:cNvSpPr/>
          <p:nvPr/>
        </p:nvSpPr>
        <p:spPr>
          <a:xfrm>
            <a:off x="7018394" y="5637276"/>
            <a:ext cx="351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beat the raw model — merchant memory pays off</a:t>
            </a:r>
          </a:p>
        </p:txBody>
      </p:sp>
      <p:sp>
        <p:nvSpPr>
          <p:cNvPr id="11" name="Footer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financial data</a:t>
            </a:r>
          </a:p>
        </p:txBody>
      </p:sp>
      <p:sp>
        <p:nvSpPr>
          <p:cNvPr id="12" name="PageNum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2920" y="411480"/>
            <a:ext cx="1118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0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is going</a:t>
            </a:r>
          </a:p>
        </p:txBody>
      </p:sp>
      <p:sp>
        <p:nvSpPr>
          <p:cNvPr id="3" name="Subtitle"/>
          <p:cNvSpPr/>
          <p:nvPr/>
        </p:nvSpPr>
        <p:spPr>
          <a:xfrm>
            <a:off x="502920" y="1143000"/>
            <a:ext cx="1118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concrete next steps for the prototype</a:t>
            </a:r>
          </a:p>
        </p:txBody>
      </p:sp>
      <p:sp>
        <p:nvSpPr>
          <p:cNvPr id="4" name="Card"/>
          <p:cNvSpPr/>
          <p:nvPr/>
        </p:nvSpPr>
        <p:spPr>
          <a:xfrm>
            <a:off x="502920" y="1737360"/>
            <a:ext cx="5433060" cy="2080260"/>
          </a:xfrm>
          <a:prstGeom prst="roundRect">
            <a:avLst>
              <a:gd name="adj" fmla="val 2637"/>
            </a:avLst>
          </a:prstGeom>
          <a:solidFill>
            <a:srgbClr val="EAF6F3"/>
          </a:solidFill>
          <a:ln/>
        </p:spPr>
      </p:sp>
      <p:sp>
        <p:nvSpPr>
          <p:cNvPr id="5" name="IconCircle"/>
          <p:cNvSpPr/>
          <p:nvPr/>
        </p:nvSpPr>
        <p:spPr>
          <a:xfrm>
            <a:off x="777240" y="201168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91" y="2098731"/>
            <a:ext cx="228234" cy="228234"/>
          </a:xfrm>
          <a:prstGeom prst="rect">
            <a:avLst/>
          </a:prstGeom>
        </p:spPr>
      </p:pic>
      <p:sp>
        <p:nvSpPr>
          <p:cNvPr id="7" name="CardHdr"/>
          <p:cNvSpPr/>
          <p:nvPr/>
        </p:nvSpPr>
        <p:spPr>
          <a:xfrm>
            <a:off x="1362456" y="2011680"/>
            <a:ext cx="42992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accuracy &amp; speed</a:t>
            </a:r>
          </a:p>
        </p:txBody>
      </p:sp>
      <p:sp>
        <p:nvSpPr>
          <p:cNvPr id="8" name="CardBody"/>
          <p:cNvSpPr/>
          <p:nvPr/>
        </p:nvSpPr>
        <p:spPr>
          <a:xfrm>
            <a:off x="777240" y="2560320"/>
            <a:ext cx="4884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past the 46 % baseline: fine-tune on the user’s own confirmed transactions, sharpen rules and prompts, and classify a full statement in seconds on a normal CPU.</a:t>
            </a:r>
          </a:p>
        </p:txBody>
      </p:sp>
      <p:sp>
        <p:nvSpPr>
          <p:cNvPr id="9" name="Card"/>
          <p:cNvSpPr/>
          <p:nvPr/>
        </p:nvSpPr>
        <p:spPr>
          <a:xfrm>
            <a:off x="6256020" y="1737360"/>
            <a:ext cx="5433060" cy="2080260"/>
          </a:xfrm>
          <a:prstGeom prst="roundRect">
            <a:avLst>
              <a:gd name="adj" fmla="val 2637"/>
            </a:avLst>
          </a:prstGeom>
          <a:solidFill>
            <a:srgbClr val="EAF6F3"/>
          </a:solidFill>
          <a:ln/>
        </p:spPr>
      </p:sp>
      <p:sp>
        <p:nvSpPr>
          <p:cNvPr id="10" name="IconCircle"/>
          <p:cNvSpPr/>
          <p:nvPr/>
        </p:nvSpPr>
        <p:spPr>
          <a:xfrm>
            <a:off x="6530340" y="201168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391" y="2098731"/>
            <a:ext cx="228234" cy="228234"/>
          </a:xfrm>
          <a:prstGeom prst="rect">
            <a:avLst/>
          </a:prstGeom>
        </p:spPr>
      </p:pic>
      <p:sp>
        <p:nvSpPr>
          <p:cNvPr id="12" name="CardHdr"/>
          <p:cNvSpPr/>
          <p:nvPr/>
        </p:nvSpPr>
        <p:spPr>
          <a:xfrm>
            <a:off x="7115556" y="2011680"/>
            <a:ext cx="42992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into a frontend</a:t>
            </a:r>
          </a:p>
        </p:txBody>
      </p:sp>
      <p:sp>
        <p:nvSpPr>
          <p:cNvPr id="13" name="CardBody"/>
          <p:cNvSpPr/>
          <p:nvPr/>
        </p:nvSpPr>
        <p:spPr>
          <a:xfrm>
            <a:off x="6530340" y="2560320"/>
            <a:ext cx="4884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scripts to an app: import a CSV, review category and confidence per booking, and fix low-confidence cases with one click — corrections feed the merchant memory.</a:t>
            </a:r>
          </a:p>
        </p:txBody>
      </p:sp>
      <p:sp>
        <p:nvSpPr>
          <p:cNvPr id="14" name="Card"/>
          <p:cNvSpPr/>
          <p:nvPr/>
        </p:nvSpPr>
        <p:spPr>
          <a:xfrm>
            <a:off x="502920" y="4137660"/>
            <a:ext cx="5433060" cy="2080260"/>
          </a:xfrm>
          <a:prstGeom prst="roundRect">
            <a:avLst>
              <a:gd name="adj" fmla="val 2637"/>
            </a:avLst>
          </a:prstGeom>
          <a:solidFill>
            <a:srgbClr val="EAF6F3"/>
          </a:solidFill>
          <a:ln/>
        </p:spPr>
      </p:sp>
      <p:sp>
        <p:nvSpPr>
          <p:cNvPr id="15" name="IconCircle"/>
          <p:cNvSpPr/>
          <p:nvPr/>
        </p:nvSpPr>
        <p:spPr>
          <a:xfrm>
            <a:off x="777240" y="441198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291" y="4499031"/>
            <a:ext cx="228234" cy="228234"/>
          </a:xfrm>
          <a:prstGeom prst="rect">
            <a:avLst/>
          </a:prstGeom>
        </p:spPr>
      </p:pic>
      <p:sp>
        <p:nvSpPr>
          <p:cNvPr id="17" name="CardHdr"/>
          <p:cNvSpPr/>
          <p:nvPr/>
        </p:nvSpPr>
        <p:spPr>
          <a:xfrm>
            <a:off x="1362456" y="4411980"/>
            <a:ext cx="42992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charts</a:t>
            </a:r>
          </a:p>
        </p:txBody>
      </p:sp>
      <p:sp>
        <p:nvSpPr>
          <p:cNvPr id="18" name="CardBody"/>
          <p:cNvSpPr/>
          <p:nvPr/>
        </p:nvSpPr>
        <p:spPr>
          <a:xfrm>
            <a:off x="777240" y="4960620"/>
            <a:ext cx="4884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views each user cares about: spending per category over time, fixed vs. variable costs, savings potential — rendered locally, like everything else.</a:t>
            </a:r>
          </a:p>
        </p:txBody>
      </p:sp>
      <p:sp>
        <p:nvSpPr>
          <p:cNvPr id="19" name="Card"/>
          <p:cNvSpPr/>
          <p:nvPr/>
        </p:nvSpPr>
        <p:spPr>
          <a:xfrm>
            <a:off x="6256020" y="4137660"/>
            <a:ext cx="5433060" cy="2080260"/>
          </a:xfrm>
          <a:prstGeom prst="roundRect">
            <a:avLst>
              <a:gd name="adj" fmla="val 2637"/>
            </a:avLst>
          </a:prstGeom>
          <a:solidFill>
            <a:srgbClr val="EAF6F3"/>
          </a:solidFill>
          <a:ln/>
        </p:spPr>
      </p:sp>
      <p:sp>
        <p:nvSpPr>
          <p:cNvPr id="20" name="IconCircle"/>
          <p:cNvSpPr/>
          <p:nvPr/>
        </p:nvSpPr>
        <p:spPr>
          <a:xfrm>
            <a:off x="6530340" y="441198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391" y="4499031"/>
            <a:ext cx="228234" cy="228234"/>
          </a:xfrm>
          <a:prstGeom prst="rect">
            <a:avLst/>
          </a:prstGeom>
        </p:spPr>
      </p:pic>
      <p:sp>
        <p:nvSpPr>
          <p:cNvPr id="22" name="CardHdr"/>
          <p:cNvSpPr/>
          <p:nvPr/>
        </p:nvSpPr>
        <p:spPr>
          <a:xfrm>
            <a:off x="7115556" y="4411980"/>
            <a:ext cx="42992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sensitive data</a:t>
            </a:r>
          </a:p>
        </p:txBody>
      </p:sp>
      <p:sp>
        <p:nvSpPr>
          <p:cNvPr id="23" name="CardBody"/>
          <p:cNvSpPr/>
          <p:nvPr/>
        </p:nvSpPr>
        <p:spPr>
          <a:xfrm>
            <a:off x="6530340" y="4960620"/>
            <a:ext cx="4884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workflow that keeps real bank data away from VS Code and co-pilots — the prerequisite for ever fine-tuning on the user’s real transactions.</a:t>
            </a:r>
          </a:p>
        </p:txBody>
      </p:sp>
      <p:sp>
        <p:nvSpPr>
          <p:cNvPr id="24" name="Footer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financial data</a:t>
            </a:r>
          </a:p>
        </p:txBody>
      </p:sp>
      <p:sp>
        <p:nvSpPr>
          <p:cNvPr id="25" name="PageNum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2920" y="411480"/>
            <a:ext cx="1118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</a:p>
        </p:txBody>
      </p:sp>
      <p:sp>
        <p:nvSpPr>
          <p:cNvPr id="3" name="Subtitle"/>
          <p:cNvSpPr/>
          <p:nvPr/>
        </p:nvSpPr>
        <p:spPr>
          <a:xfrm>
            <a:off x="502920" y="1143000"/>
            <a:ext cx="1118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takeaways from building privacy-first ML tooling as a team</a:t>
            </a:r>
          </a:p>
        </p:txBody>
      </p:sp>
      <p:sp>
        <p:nvSpPr>
          <p:cNvPr id="4" name="Card"/>
          <p:cNvSpPr/>
          <p:nvPr/>
        </p:nvSpPr>
        <p:spPr>
          <a:xfrm>
            <a:off x="502920" y="2103120"/>
            <a:ext cx="3515360" cy="3200400"/>
          </a:xfrm>
          <a:prstGeom prst="roundRect">
            <a:avLst>
              <a:gd name="adj" fmla="val 2637"/>
            </a:avLst>
          </a:prstGeom>
          <a:solidFill>
            <a:srgbClr val="222835"/>
          </a:solidFill>
          <a:ln/>
        </p:spPr>
      </p:sp>
      <p:sp>
        <p:nvSpPr>
          <p:cNvPr id="5" name="Num"/>
          <p:cNvSpPr/>
          <p:nvPr/>
        </p:nvSpPr>
        <p:spPr>
          <a:xfrm>
            <a:off x="777240" y="2423160"/>
            <a:ext cx="296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E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</a:p>
        </p:txBody>
      </p:sp>
      <p:sp>
        <p:nvSpPr>
          <p:cNvPr id="6" name="CardHdr"/>
          <p:cNvSpPr/>
          <p:nvPr/>
        </p:nvSpPr>
        <p:spPr>
          <a:xfrm>
            <a:off x="777240" y="3108960"/>
            <a:ext cx="296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before you build</a:t>
            </a:r>
          </a:p>
        </p:txBody>
      </p:sp>
      <p:sp>
        <p:nvSpPr>
          <p:cNvPr id="7" name="CardBody"/>
          <p:cNvSpPr/>
          <p:nvPr/>
        </p:nvSpPr>
        <p:spPr>
          <a:xfrm>
            <a:off x="777240" y="3703320"/>
            <a:ext cx="296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clear planning and task management we did not work efficiently. </a:t>
            </a:r>
          </a:p>
        </p:txBody>
      </p:sp>
      <p:sp>
        <p:nvSpPr>
          <p:cNvPr id="8" name="Card"/>
          <p:cNvSpPr/>
          <p:nvPr/>
        </p:nvSpPr>
        <p:spPr>
          <a:xfrm>
            <a:off x="4338320" y="2103120"/>
            <a:ext cx="3515360" cy="3200400"/>
          </a:xfrm>
          <a:prstGeom prst="roundRect">
            <a:avLst>
              <a:gd name="adj" fmla="val 2637"/>
            </a:avLst>
          </a:prstGeom>
          <a:solidFill>
            <a:srgbClr val="222835"/>
          </a:solidFill>
          <a:ln/>
        </p:spPr>
      </p:sp>
      <p:sp>
        <p:nvSpPr>
          <p:cNvPr id="9" name="Num"/>
          <p:cNvSpPr/>
          <p:nvPr/>
        </p:nvSpPr>
        <p:spPr>
          <a:xfrm>
            <a:off x="4612640" y="2423160"/>
            <a:ext cx="296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E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</a:p>
        </p:txBody>
      </p:sp>
      <p:sp>
        <p:nvSpPr>
          <p:cNvPr id="10" name="CardHdr"/>
          <p:cNvSpPr/>
          <p:nvPr/>
        </p:nvSpPr>
        <p:spPr>
          <a:xfrm>
            <a:off x="4612640" y="3108960"/>
            <a:ext cx="296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discipline matters</a:t>
            </a:r>
          </a:p>
        </p:txBody>
      </p:sp>
      <p:sp>
        <p:nvSpPr>
          <p:cNvPr id="11" name="CardBody"/>
          <p:cNvSpPr/>
          <p:nvPr/>
        </p:nvSpPr>
        <p:spPr>
          <a:xfrm>
            <a:off x="4612640" y="3703320"/>
            <a:ext cx="296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branches cost us hours of merge conflicts. </a:t>
            </a:r>
          </a:p>
        </p:txBody>
      </p:sp>
      <p:sp>
        <p:nvSpPr>
          <p:cNvPr id="12" name="Card"/>
          <p:cNvSpPr/>
          <p:nvPr/>
        </p:nvSpPr>
        <p:spPr>
          <a:xfrm>
            <a:off x="8173720" y="2103120"/>
            <a:ext cx="3515360" cy="3200400"/>
          </a:xfrm>
          <a:prstGeom prst="roundRect">
            <a:avLst>
              <a:gd name="adj" fmla="val 2637"/>
            </a:avLst>
          </a:prstGeom>
          <a:solidFill>
            <a:srgbClr val="222835"/>
          </a:solidFill>
          <a:ln/>
        </p:spPr>
      </p:sp>
      <p:sp>
        <p:nvSpPr>
          <p:cNvPr id="13" name="Num"/>
          <p:cNvSpPr/>
          <p:nvPr/>
        </p:nvSpPr>
        <p:spPr>
          <a:xfrm>
            <a:off x="8448040" y="2423160"/>
            <a:ext cx="296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E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</a:p>
        </p:txBody>
      </p:sp>
      <p:sp>
        <p:nvSpPr>
          <p:cNvPr id="14" name="CardHdr"/>
          <p:cNvSpPr/>
          <p:nvPr/>
        </p:nvSpPr>
        <p:spPr>
          <a:xfrm>
            <a:off x="8448040" y="3108960"/>
            <a:ext cx="296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out of the IDE</a:t>
            </a:r>
          </a:p>
        </p:txBody>
      </p:sp>
      <p:sp>
        <p:nvSpPr>
          <p:cNvPr id="15" name="CardBody"/>
          <p:cNvSpPr/>
          <p:nvPr/>
        </p:nvSpPr>
        <p:spPr>
          <a:xfrm>
            <a:off x="8448040" y="3703320"/>
            <a:ext cx="296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bank data must never reach AI-assisted editors — we need a workflow that isolates sensitive data from VS Code and co-pilots.</a:t>
            </a:r>
          </a:p>
        </p:txBody>
      </p:sp>
      <p:sp>
        <p:nvSpPr>
          <p:cNvPr id="17" name="Footer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financial data</a:t>
            </a:r>
          </a:p>
        </p:txBody>
      </p:sp>
      <p:sp>
        <p:nvSpPr>
          <p:cNvPr id="18" name="PageNum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D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456A3-C03A-FC69-E6C3-A6145B2C2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4ECD6B-CC29-37EC-1CF7-CE67139EAFA5}"/>
              </a:ext>
            </a:extLst>
          </p:cNvPr>
          <p:cNvSpPr/>
          <p:nvPr/>
        </p:nvSpPr>
        <p:spPr>
          <a:xfrm>
            <a:off x="2516205" y="3063240"/>
            <a:ext cx="1118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attention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5DDA489-C21B-90FA-715B-F7A53F6CA44F}"/>
              </a:ext>
            </a:extLst>
          </p:cNvPr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financial data</a:t>
            </a:r>
          </a:p>
        </p:txBody>
      </p:sp>
      <p:sp>
        <p:nvSpPr>
          <p:cNvPr id="18" name="PageNum">
            <a:extLst>
              <a:ext uri="{FF2B5EF4-FFF2-40B4-BE49-F238E27FC236}">
                <a16:creationId xmlns:a16="http://schemas.microsoft.com/office/drawing/2014/main" id="{2929EEE5-FB8D-86BE-58F2-0875D5C86412}"/>
              </a:ext>
            </a:extLst>
          </p:cNvPr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28873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</Words>
  <Application>Microsoft Macintosh PowerPoint</Application>
  <PresentationFormat>Breitbild</PresentationFormat>
  <Paragraphs>136</Paragraphs>
  <Slides>12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cbrilke@posteo.de</cp:lastModifiedBy>
  <cp:revision>13</cp:revision>
  <dcterms:created xsi:type="dcterms:W3CDTF">2026-07-09T15:46:11Z</dcterms:created>
  <dcterms:modified xsi:type="dcterms:W3CDTF">2026-07-13T16:59:43Z</dcterms:modified>
</cp:coreProperties>
</file>